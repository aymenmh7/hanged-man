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2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35000"/>
          </a:xfrm>
          <a:prstGeom prst="rect">
            <a:avLst/>
          </a:prstGeom>
          <a:solidFill>
            <a:srgbClr val="C895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60520"/>
            <a:ext cx="12191695" cy="35000"/>
          </a:xfrm>
          <a:prstGeom prst="rect">
            <a:avLst/>
          </a:prstGeom>
          <a:solidFill>
            <a:srgbClr val="C895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606040"/>
            <a:ext cx="11247120" cy="12801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7200" b="1" i="0">
                <a:solidFill>
                  <a:srgbClr val="F8ECC8"/>
                </a:solidFill>
                <a:latin typeface="Georgia"/>
              </a:rPr>
              <a:t>PIRATE'S HANGMAN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20440"/>
            <a:ext cx="112471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200" b="0" i="1">
                <a:solidFill>
                  <a:srgbClr val="C89548"/>
                </a:solidFill>
                <a:latin typeface="Georgia"/>
              </a:rPr>
              <a:t>Implémentation Java d'un jeu du Pendu thématisé pirate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0" i="0">
                <a:solidFill>
                  <a:srgbClr val="F8ECC8"/>
                </a:solidFill>
                <a:latin typeface="Calibri"/>
              </a:rPr>
              <a:t>Projet académique  ·  ENSA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2400" b="0" i="0">
                <a:solidFill>
                  <a:srgbClr val="C89548"/>
                </a:solidFill>
                <a:latin typeface="Calibri"/>
              </a:rPr>
              <a:t>⚓     ☠     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112471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500" b="0" i="1">
                <a:solidFill>
                  <a:srgbClr val="EAD49B"/>
                </a:solidFill>
                <a:latin typeface="Georgia"/>
              </a:rPr>
              <a:t>Soutenance de projet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E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EAD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18000"/>
          </a:xfrm>
          <a:prstGeom prst="rect">
            <a:avLst/>
          </a:prstGeom>
          <a:solidFill>
            <a:srgbClr val="8B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10000"/>
          </a:xfrm>
          <a:prstGeom prst="rect">
            <a:avLst/>
          </a:prstGeom>
          <a:solidFill>
            <a:srgbClr val="C895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080760"/>
            <a:ext cx="12191695" cy="18000"/>
          </a:xfrm>
          <a:prstGeom prst="rect">
            <a:avLst/>
          </a:prstGeom>
          <a:solidFill>
            <a:srgbClr val="8B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2880"/>
            <a:ext cx="128016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6400" b="1" i="0">
                <a:solidFill>
                  <a:srgbClr val="C89548"/>
                </a:solidFill>
                <a:latin typeface="Georgia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92608"/>
            <a:ext cx="100584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 i="0">
                <a:solidFill>
                  <a:srgbClr val="2A1A0A"/>
                </a:solidFill>
                <a:latin typeface="Georgia"/>
              </a:rPr>
              <a:t>Sommaire de la présentation</a:t>
            </a:r>
          </a:p>
        </p:txBody>
      </p:sp>
      <p:sp>
        <p:nvSpPr>
          <p:cNvPr id="9" name="Oval 8"/>
          <p:cNvSpPr/>
          <p:nvPr/>
        </p:nvSpPr>
        <p:spPr>
          <a:xfrm>
            <a:off x="1005840" y="1508760"/>
            <a:ext cx="502920" cy="502920"/>
          </a:xfrm>
          <a:prstGeom prst="ellipse">
            <a:avLst/>
          </a:prstGeom>
          <a:solidFill>
            <a:srgbClr val="C89548"/>
          </a:solidFill>
          <a:ln w="19050">
            <a:solidFill>
              <a:srgbClr val="3A2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472184"/>
            <a:ext cx="5029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 i="0">
                <a:solidFill>
                  <a:srgbClr val="3A2410"/>
                </a:solidFill>
                <a:latin typeface="Georg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41732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 i="0">
                <a:solidFill>
                  <a:srgbClr val="2A1A0A"/>
                </a:solidFill>
                <a:latin typeface="Georgia"/>
              </a:rPr>
              <a:t>Sujet du projet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801368"/>
            <a:ext cx="9144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1">
                <a:solidFill>
                  <a:srgbClr val="5D3A1A"/>
                </a:solidFill>
                <a:latin typeface="Calibri"/>
              </a:rPr>
              <a:t>Intitulé, objectif, fonctionnalités, technologies</a:t>
            </a:r>
          </a:p>
        </p:txBody>
      </p:sp>
      <p:sp>
        <p:nvSpPr>
          <p:cNvPr id="13" name="Oval 12"/>
          <p:cNvSpPr/>
          <p:nvPr/>
        </p:nvSpPr>
        <p:spPr>
          <a:xfrm>
            <a:off x="1005840" y="2221992"/>
            <a:ext cx="502920" cy="502920"/>
          </a:xfrm>
          <a:prstGeom prst="ellipse">
            <a:avLst/>
          </a:prstGeom>
          <a:solidFill>
            <a:srgbClr val="C89548"/>
          </a:solidFill>
          <a:ln w="19050">
            <a:solidFill>
              <a:srgbClr val="3A2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185416"/>
            <a:ext cx="5029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 i="0">
                <a:solidFill>
                  <a:srgbClr val="3A2410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130552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 i="0">
                <a:solidFill>
                  <a:srgbClr val="2A1A0A"/>
                </a:solidFill>
                <a:latin typeface="Georgia"/>
              </a:rPr>
              <a:t>Diagramme de classes UML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2514600"/>
            <a:ext cx="9144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1">
                <a:solidFill>
                  <a:srgbClr val="5D3A1A"/>
                </a:solidFill>
                <a:latin typeface="Calibri"/>
              </a:rPr>
              <a:t>Vue d'ensemble des classes et de leurs relations</a:t>
            </a:r>
          </a:p>
        </p:txBody>
      </p:sp>
      <p:sp>
        <p:nvSpPr>
          <p:cNvPr id="17" name="Oval 16"/>
          <p:cNvSpPr/>
          <p:nvPr/>
        </p:nvSpPr>
        <p:spPr>
          <a:xfrm>
            <a:off x="1005840" y="2935224"/>
            <a:ext cx="502920" cy="502920"/>
          </a:xfrm>
          <a:prstGeom prst="ellipse">
            <a:avLst/>
          </a:prstGeom>
          <a:solidFill>
            <a:srgbClr val="C89548"/>
          </a:solidFill>
          <a:ln w="19050">
            <a:solidFill>
              <a:srgbClr val="3A2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898648"/>
            <a:ext cx="5029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 i="0">
                <a:solidFill>
                  <a:srgbClr val="3A2410"/>
                </a:solidFill>
                <a:latin typeface="Georg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2843784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 i="0">
                <a:solidFill>
                  <a:srgbClr val="2A1A0A"/>
                </a:solidFill>
                <a:latin typeface="Georgia"/>
              </a:rPr>
              <a:t>Architecture du projet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3227832"/>
            <a:ext cx="9144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1">
                <a:solidFill>
                  <a:srgbClr val="5D3A1A"/>
                </a:solidFill>
                <a:latin typeface="Calibri"/>
              </a:rPr>
              <a:t>Structure en couches MVC</a:t>
            </a:r>
          </a:p>
        </p:txBody>
      </p:sp>
      <p:sp>
        <p:nvSpPr>
          <p:cNvPr id="21" name="Oval 20"/>
          <p:cNvSpPr/>
          <p:nvPr/>
        </p:nvSpPr>
        <p:spPr>
          <a:xfrm>
            <a:off x="1005840" y="3648456"/>
            <a:ext cx="502920" cy="502920"/>
          </a:xfrm>
          <a:prstGeom prst="ellipse">
            <a:avLst/>
          </a:prstGeom>
          <a:solidFill>
            <a:srgbClr val="C89548"/>
          </a:solidFill>
          <a:ln w="19050">
            <a:solidFill>
              <a:srgbClr val="3A2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611880"/>
            <a:ext cx="5029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 i="0">
                <a:solidFill>
                  <a:srgbClr val="3A2410"/>
                </a:solidFill>
                <a:latin typeface="Georg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557016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 i="0">
                <a:solidFill>
                  <a:srgbClr val="2A1A0A"/>
                </a:solidFill>
                <a:latin typeface="Georgia"/>
              </a:rPr>
              <a:t>Diagramme de navigation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3941064"/>
            <a:ext cx="9144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1">
                <a:solidFill>
                  <a:srgbClr val="5D3A1A"/>
                </a:solidFill>
                <a:latin typeface="Calibri"/>
              </a:rPr>
              <a:t>Enchaînement des écrans et scénarios</a:t>
            </a:r>
          </a:p>
        </p:txBody>
      </p:sp>
      <p:sp>
        <p:nvSpPr>
          <p:cNvPr id="25" name="Oval 24"/>
          <p:cNvSpPr/>
          <p:nvPr/>
        </p:nvSpPr>
        <p:spPr>
          <a:xfrm>
            <a:off x="1005840" y="4361688"/>
            <a:ext cx="502920" cy="502920"/>
          </a:xfrm>
          <a:prstGeom prst="ellipse">
            <a:avLst/>
          </a:prstGeom>
          <a:solidFill>
            <a:srgbClr val="C89548"/>
          </a:solidFill>
          <a:ln w="19050">
            <a:solidFill>
              <a:srgbClr val="3A2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325112"/>
            <a:ext cx="5029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 i="0">
                <a:solidFill>
                  <a:srgbClr val="3A2410"/>
                </a:solidFill>
                <a:latin typeface="Georgi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4270248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 i="0">
                <a:solidFill>
                  <a:srgbClr val="2A1A0A"/>
                </a:solidFill>
                <a:latin typeface="Georgia"/>
              </a:rPr>
              <a:t>Démonstration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4654296"/>
            <a:ext cx="9144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1">
                <a:solidFill>
                  <a:srgbClr val="5D3A1A"/>
                </a:solidFill>
                <a:latin typeface="Calibri"/>
              </a:rPr>
              <a:t>Tour du jeu en direct</a:t>
            </a:r>
          </a:p>
        </p:txBody>
      </p:sp>
      <p:sp>
        <p:nvSpPr>
          <p:cNvPr id="29" name="Oval 28"/>
          <p:cNvSpPr/>
          <p:nvPr/>
        </p:nvSpPr>
        <p:spPr>
          <a:xfrm>
            <a:off x="1005840" y="5074920"/>
            <a:ext cx="502920" cy="502920"/>
          </a:xfrm>
          <a:prstGeom prst="ellipse">
            <a:avLst/>
          </a:prstGeom>
          <a:solidFill>
            <a:srgbClr val="C89548"/>
          </a:solidFill>
          <a:ln w="19050">
            <a:solidFill>
              <a:srgbClr val="3A2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038344"/>
            <a:ext cx="5029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 i="0">
                <a:solidFill>
                  <a:srgbClr val="3A2410"/>
                </a:solidFill>
                <a:latin typeface="Georgi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498348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 i="0">
                <a:solidFill>
                  <a:srgbClr val="2A1A0A"/>
                </a:solidFill>
                <a:latin typeface="Georgia"/>
              </a:rPr>
              <a:t>Conclusion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5367528"/>
            <a:ext cx="9144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1">
                <a:solidFill>
                  <a:srgbClr val="5D3A1A"/>
                </a:solidFill>
                <a:latin typeface="Calibri"/>
              </a:rPr>
              <a:t>Bilan, apprentissages, perspectives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263640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5D3A1A"/>
                </a:solidFill>
                <a:latin typeface="Calibri"/>
              </a:rPr>
              <a:t>Pirate's Hangman   ·   Sommaire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263640"/>
            <a:ext cx="1371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100" b="0" i="1">
                <a:solidFill>
                  <a:srgbClr val="5D3A1A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E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EAD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18000"/>
          </a:xfrm>
          <a:prstGeom prst="rect">
            <a:avLst/>
          </a:prstGeom>
          <a:solidFill>
            <a:srgbClr val="8B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10000"/>
          </a:xfrm>
          <a:prstGeom prst="rect">
            <a:avLst/>
          </a:prstGeom>
          <a:solidFill>
            <a:srgbClr val="C895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080760"/>
            <a:ext cx="12191695" cy="18000"/>
          </a:xfrm>
          <a:prstGeom prst="rect">
            <a:avLst/>
          </a:prstGeom>
          <a:solidFill>
            <a:srgbClr val="8B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2880"/>
            <a:ext cx="128016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6400" b="1" i="0">
                <a:solidFill>
                  <a:srgbClr val="C89548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92608"/>
            <a:ext cx="100584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 i="0">
                <a:solidFill>
                  <a:srgbClr val="2A1A0A"/>
                </a:solidFill>
                <a:latin typeface="Georgia"/>
              </a:rPr>
              <a:t>Sujet du projet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11247120" cy="914400"/>
          </a:xfrm>
          <a:prstGeom prst="roundRect">
            <a:avLst>
              <a:gd name="adj" fmla="val 10000"/>
            </a:avLst>
          </a:prstGeom>
          <a:solidFill>
            <a:srgbClr val="FFF7DE"/>
          </a:solidFill>
          <a:ln w="19050">
            <a:solidFill>
              <a:srgbClr val="3A2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81328"/>
            <a:ext cx="20116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8B6A2A"/>
                </a:solidFill>
                <a:latin typeface="Calibri"/>
              </a:rPr>
              <a:t>INTITULÉ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55648"/>
            <a:ext cx="106984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2A1A0A"/>
                </a:solidFill>
                <a:latin typeface="Georgia"/>
              </a:rPr>
              <a:t>Pirate's Hangman — jeu du Pendu en Java / JavaFX avec persistance MySQL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23160"/>
            <a:ext cx="11247120" cy="960120"/>
          </a:xfrm>
          <a:prstGeom prst="roundRect">
            <a:avLst>
              <a:gd name="adj" fmla="val 10000"/>
            </a:avLst>
          </a:prstGeom>
          <a:solidFill>
            <a:srgbClr val="FFF7DE"/>
          </a:solidFill>
          <a:ln w="19050">
            <a:solidFill>
              <a:srgbClr val="3A2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32888"/>
            <a:ext cx="2743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8B6A2A"/>
                </a:solidFill>
                <a:latin typeface="Calibri"/>
              </a:rPr>
              <a:t>OBJECTIF PRINCIPAL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07208"/>
            <a:ext cx="106984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2A1A0A"/>
                </a:solidFill>
                <a:latin typeface="Calibri"/>
              </a:rPr>
              <a:t>Mettre en pratique l'architecture orientée objet, le pattern MVC, l'accès à une base de données via JDBC et la conception d'interfaces graphiques en JavaFX, le tout dans un projet ludique et complet.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520440"/>
            <a:ext cx="5486400" cy="2468880"/>
          </a:xfrm>
          <a:prstGeom prst="roundRect">
            <a:avLst>
              <a:gd name="adj" fmla="val 5000"/>
            </a:avLst>
          </a:prstGeom>
          <a:solidFill>
            <a:srgbClr val="FFF7DE"/>
          </a:solidFill>
          <a:ln w="19050">
            <a:solidFill>
              <a:srgbClr val="3A2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611880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8B6A2A"/>
                </a:solidFill>
                <a:latin typeface="Calibri"/>
              </a:rPr>
              <a:t>FONCTIONNALITÉS PRINCIPALES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931920"/>
            <a:ext cx="5212080" cy="2011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9548"/>
                </a:solidFill>
                <a:latin typeface="Calibri"/>
              </a:rPr>
              <a:t>● </a:t>
            </a:r>
            <a:r>
              <a:rPr sz="1200">
                <a:solidFill>
                  <a:srgbClr val="2A1A0A"/>
                </a:solidFill>
                <a:latin typeface="Calibri"/>
              </a:rPr>
              <a:t>Mode solo : 4 difficultés (Cabin Boy → Dread Pirate)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C89548"/>
                </a:solidFill>
                <a:latin typeface="Calibri"/>
              </a:rPr>
              <a:t>● </a:t>
            </a:r>
            <a:r>
              <a:rPr sz="1200">
                <a:solidFill>
                  <a:srgbClr val="2A1A0A"/>
                </a:solidFill>
                <a:latin typeface="Calibri"/>
              </a:rPr>
              <a:t>Mode duel 1v1 entre deux capitaines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C89548"/>
                </a:solidFill>
                <a:latin typeface="Calibri"/>
              </a:rPr>
              <a:t>● </a:t>
            </a:r>
            <a:r>
              <a:rPr sz="1200">
                <a:solidFill>
                  <a:srgbClr val="2A1A0A"/>
                </a:solidFill>
                <a:latin typeface="Calibri"/>
              </a:rPr>
              <a:t>Mort subite avec mot identique pour les 2 joueurs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C89548"/>
                </a:solidFill>
                <a:latin typeface="Calibri"/>
              </a:rPr>
              <a:t>● </a:t>
            </a:r>
            <a:r>
              <a:rPr sz="1200">
                <a:solidFill>
                  <a:srgbClr val="2A1A0A"/>
                </a:solidFill>
                <a:latin typeface="Calibri"/>
              </a:rPr>
              <a:t>Classement Top 10 persistant par difficulté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C89548"/>
                </a:solidFill>
                <a:latin typeface="Calibri"/>
              </a:rPr>
              <a:t>● </a:t>
            </a:r>
            <a:r>
              <a:rPr sz="1200">
                <a:solidFill>
                  <a:srgbClr val="2A1A0A"/>
                </a:solidFill>
                <a:latin typeface="Calibri"/>
              </a:rPr>
              <a:t>Score combiné chances + temps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C89548"/>
                </a:solidFill>
                <a:latin typeface="Calibri"/>
              </a:rPr>
              <a:t>● </a:t>
            </a:r>
            <a:r>
              <a:rPr sz="1200">
                <a:solidFill>
                  <a:srgbClr val="2A1A0A"/>
                </a:solidFill>
                <a:latin typeface="Calibri"/>
              </a:rPr>
              <a:t>Interface graphique thème Pirate (parchemin / bois)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520440"/>
            <a:ext cx="5486400" cy="2468880"/>
          </a:xfrm>
          <a:prstGeom prst="roundRect">
            <a:avLst>
              <a:gd name="adj" fmla="val 5000"/>
            </a:avLst>
          </a:prstGeom>
          <a:solidFill>
            <a:srgbClr val="FFF7DE"/>
          </a:solidFill>
          <a:ln w="19050">
            <a:solidFill>
              <a:srgbClr val="3A2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611880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8B6A2A"/>
                </a:solidFill>
                <a:latin typeface="Calibri"/>
              </a:rPr>
              <a:t>TECHNOLOGIES UTILISÉES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931920"/>
            <a:ext cx="5212080" cy="2011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9548"/>
                </a:solidFill>
                <a:latin typeface="Calibri"/>
              </a:rPr>
              <a:t>● </a:t>
            </a:r>
            <a:r>
              <a:rPr sz="1200">
                <a:solidFill>
                  <a:srgbClr val="2A1A0A"/>
                </a:solidFill>
                <a:latin typeface="Calibri"/>
              </a:rPr>
              <a:t>Java (JDK 17 ou 21 LTS)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C89548"/>
                </a:solidFill>
                <a:latin typeface="Calibri"/>
              </a:rPr>
              <a:t>● </a:t>
            </a:r>
            <a:r>
              <a:rPr sz="1200">
                <a:solidFill>
                  <a:srgbClr val="2A1A0A"/>
                </a:solidFill>
                <a:latin typeface="Calibri"/>
              </a:rPr>
              <a:t>JavaFX — interface graphique vectorielle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C89548"/>
                </a:solidFill>
                <a:latin typeface="Calibri"/>
              </a:rPr>
              <a:t>● </a:t>
            </a:r>
            <a:r>
              <a:rPr sz="1200">
                <a:solidFill>
                  <a:srgbClr val="2A1A0A"/>
                </a:solidFill>
                <a:latin typeface="Calibri"/>
              </a:rPr>
              <a:t>MySQL 8.0+ — base de données relationnelle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C89548"/>
                </a:solidFill>
                <a:latin typeface="Calibri"/>
              </a:rPr>
              <a:t>● </a:t>
            </a:r>
            <a:r>
              <a:rPr sz="1200">
                <a:solidFill>
                  <a:srgbClr val="2A1A0A"/>
                </a:solidFill>
                <a:latin typeface="Calibri"/>
              </a:rPr>
              <a:t>JDBC (MySQL Connector/J) — pilote d'accès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C89548"/>
                </a:solidFill>
                <a:latin typeface="Calibri"/>
              </a:rPr>
              <a:t>● </a:t>
            </a:r>
            <a:r>
              <a:rPr sz="1200">
                <a:solidFill>
                  <a:srgbClr val="2A1A0A"/>
                </a:solidFill>
                <a:latin typeface="Calibri"/>
              </a:rPr>
              <a:t>CSS JavaFX — habillage du thème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C89548"/>
                </a:solidFill>
                <a:latin typeface="Calibri"/>
              </a:rPr>
              <a:t>● </a:t>
            </a:r>
            <a:r>
              <a:rPr sz="1200">
                <a:solidFill>
                  <a:srgbClr val="2A1A0A"/>
                </a:solidFill>
                <a:latin typeface="Calibri"/>
              </a:rPr>
              <a:t>Git / GitHub — gestion de versions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263640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5D3A1A"/>
                </a:solidFill>
                <a:latin typeface="Calibri"/>
              </a:rPr>
              <a:t>Pirate's Hangman   ·   1. Sujet du projet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263640"/>
            <a:ext cx="1371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100" b="0" i="1">
                <a:solidFill>
                  <a:srgbClr val="5D3A1A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E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EAD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18000"/>
          </a:xfrm>
          <a:prstGeom prst="rect">
            <a:avLst/>
          </a:prstGeom>
          <a:solidFill>
            <a:srgbClr val="8B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10000"/>
          </a:xfrm>
          <a:prstGeom prst="rect">
            <a:avLst/>
          </a:prstGeom>
          <a:solidFill>
            <a:srgbClr val="C895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080760"/>
            <a:ext cx="12191695" cy="18000"/>
          </a:xfrm>
          <a:prstGeom prst="rect">
            <a:avLst/>
          </a:prstGeom>
          <a:solidFill>
            <a:srgbClr val="8B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2880"/>
            <a:ext cx="128016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6400" b="1" i="0">
                <a:solidFill>
                  <a:srgbClr val="C89548"/>
                </a:solidFill>
                <a:latin typeface="Georg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92608"/>
            <a:ext cx="100584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 i="0">
                <a:solidFill>
                  <a:srgbClr val="2A1A0A"/>
                </a:solidFill>
                <a:latin typeface="Georgia"/>
              </a:rPr>
              <a:t>Diagramme de classes UML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80160"/>
            <a:ext cx="274320" cy="274320"/>
          </a:xfrm>
          <a:prstGeom prst="rect">
            <a:avLst/>
          </a:prstGeom>
          <a:solidFill>
            <a:srgbClr val="EAD49B"/>
          </a:solidFill>
          <a:ln w="6350">
            <a:solidFill>
              <a:srgbClr val="3A2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261872"/>
            <a:ext cx="14630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2A1A0A"/>
                </a:solidFill>
                <a:latin typeface="Calibri"/>
              </a:rPr>
              <a:t>Modèles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1280160"/>
            <a:ext cx="274320" cy="274320"/>
          </a:xfrm>
          <a:prstGeom prst="rect">
            <a:avLst/>
          </a:prstGeom>
          <a:solidFill>
            <a:srgbClr val="C89548"/>
          </a:solidFill>
          <a:ln w="6350">
            <a:solidFill>
              <a:srgbClr val="3A2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1261872"/>
            <a:ext cx="14630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2A1A0A"/>
                </a:solidFill>
                <a:latin typeface="Calibri"/>
              </a:rPr>
              <a:t>DAO / DB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1280160"/>
            <a:ext cx="274320" cy="274320"/>
          </a:xfrm>
          <a:prstGeom prst="rect">
            <a:avLst/>
          </a:prstGeom>
          <a:solidFill>
            <a:srgbClr val="C0D0A8"/>
          </a:solidFill>
          <a:ln w="6350">
            <a:solidFill>
              <a:srgbClr val="3A2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261872"/>
            <a:ext cx="14630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2A1A0A"/>
                </a:solidFill>
                <a:latin typeface="Calibri"/>
              </a:rPr>
              <a:t>Services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1280160"/>
            <a:ext cx="274320" cy="274320"/>
          </a:xfrm>
          <a:prstGeom prst="rect">
            <a:avLst/>
          </a:prstGeom>
          <a:solidFill>
            <a:srgbClr val="C8B8E0"/>
          </a:solidFill>
          <a:ln w="6350">
            <a:solidFill>
              <a:srgbClr val="3A2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261872"/>
            <a:ext cx="14630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2A1A0A"/>
                </a:solidFill>
                <a:latin typeface="Calibri"/>
              </a:rPr>
              <a:t>Managers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18120" y="1280160"/>
            <a:ext cx="274320" cy="274320"/>
          </a:xfrm>
          <a:prstGeom prst="rect">
            <a:avLst/>
          </a:prstGeom>
          <a:solidFill>
            <a:srgbClr val="B0D0E5"/>
          </a:solidFill>
          <a:ln w="6350">
            <a:solidFill>
              <a:srgbClr val="3A2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1261872"/>
            <a:ext cx="14630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2A1A0A"/>
                </a:solidFill>
                <a:latin typeface="Calibri"/>
              </a:rPr>
              <a:t>Vue (UI)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1691640"/>
            <a:ext cx="1920240" cy="914400"/>
          </a:xfrm>
          <a:prstGeom prst="rect">
            <a:avLst/>
          </a:prstGeom>
          <a:solidFill>
            <a:srgbClr val="EAD49B"/>
          </a:solidFill>
          <a:ln w="15875">
            <a:solidFill>
              <a:srgbClr val="3A2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20640" y="1691640"/>
            <a:ext cx="1920240" cy="274320"/>
          </a:xfrm>
          <a:prstGeom prst="rect">
            <a:avLst/>
          </a:prstGeom>
          <a:solidFill>
            <a:srgbClr val="3A2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0" y="1691640"/>
            <a:ext cx="19202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F8ECC8"/>
                </a:solidFill>
                <a:latin typeface="Consolas"/>
              </a:rPr>
              <a:t>Difficulty (enum)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1965960"/>
            <a:ext cx="182880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800">
                <a:solidFill>
                  <a:srgbClr val="2A1A0A"/>
                </a:solidFill>
                <a:latin typeface="Consolas"/>
              </a:rPr>
              <a:t>EASY, MEDIUM,</a:t>
            </a:r>
          </a:p>
          <a:p>
            <a:pPr algn="l">
              <a:spcAft>
                <a:spcPts val="100"/>
              </a:spcAft>
            </a:pPr>
            <a:r>
              <a:rPr sz="800">
                <a:solidFill>
                  <a:srgbClr val="2A1A0A"/>
                </a:solidFill>
                <a:latin typeface="Consolas"/>
              </a:rPr>
              <a:t>HARD, INSANE</a:t>
            </a:r>
          </a:p>
          <a:p>
            <a:pPr algn="l">
              <a:spcAft>
                <a:spcPts val="100"/>
              </a:spcAft>
            </a:pPr>
            <a:r>
              <a:rPr sz="800">
                <a:solidFill>
                  <a:srgbClr val="2A1A0A"/>
                </a:solidFill>
                <a:latin typeface="Consolas"/>
              </a:rPr>
              <a:t>+ getSinglePlayerChances()</a:t>
            </a:r>
          </a:p>
          <a:p>
            <a:pPr algn="l">
              <a:spcAft>
                <a:spcPts val="100"/>
              </a:spcAft>
            </a:pPr>
            <a:r>
              <a:rPr sz="800">
                <a:solidFill>
                  <a:srgbClr val="2A1A0A"/>
                </a:solidFill>
                <a:latin typeface="Consolas"/>
              </a:rPr>
              <a:t>+ getNextDifficulty()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926080"/>
            <a:ext cx="2194560" cy="1371600"/>
          </a:xfrm>
          <a:prstGeom prst="rect">
            <a:avLst/>
          </a:prstGeom>
          <a:solidFill>
            <a:srgbClr val="EAD49B"/>
          </a:solidFill>
          <a:ln w="15875">
            <a:solidFill>
              <a:srgbClr val="3A2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2926080"/>
            <a:ext cx="2194560" cy="274320"/>
          </a:xfrm>
          <a:prstGeom prst="rect">
            <a:avLst/>
          </a:prstGeom>
          <a:solidFill>
            <a:srgbClr val="3A2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926080"/>
            <a:ext cx="21945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F8ECC8"/>
                </a:solidFill>
                <a:latin typeface="Consolas"/>
              </a:rPr>
              <a:t>GameSession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200400"/>
            <a:ext cx="2103120" cy="10972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800">
                <a:solidFill>
                  <a:srgbClr val="2A1A0A"/>
                </a:solidFill>
                <a:latin typeface="Consolas"/>
              </a:rPr>
              <a:t>- wordToGuess: String</a:t>
            </a:r>
          </a:p>
          <a:p>
            <a:pPr algn="l">
              <a:spcAft>
                <a:spcPts val="100"/>
              </a:spcAft>
            </a:pPr>
            <a:r>
              <a:rPr sz="800">
                <a:solidFill>
                  <a:srgbClr val="2A1A0A"/>
                </a:solidFill>
                <a:latin typeface="Consolas"/>
              </a:rPr>
              <a:t>- remainingChances: int</a:t>
            </a:r>
          </a:p>
          <a:p>
            <a:pPr algn="l">
              <a:spcAft>
                <a:spcPts val="100"/>
              </a:spcAft>
            </a:pPr>
            <a:r>
              <a:rPr sz="800">
                <a:solidFill>
                  <a:srgbClr val="2A1A0A"/>
                </a:solidFill>
                <a:latin typeface="Consolas"/>
              </a:rPr>
              <a:t>+ guess(c): boolean</a:t>
            </a:r>
          </a:p>
          <a:p>
            <a:pPr algn="l">
              <a:spcAft>
                <a:spcPts val="100"/>
              </a:spcAft>
            </a:pPr>
            <a:r>
              <a:rPr sz="800">
                <a:solidFill>
                  <a:srgbClr val="2A1A0A"/>
                </a:solidFill>
                <a:latin typeface="Consolas"/>
              </a:rPr>
              <a:t>+ isWon() / isLost()</a:t>
            </a:r>
          </a:p>
          <a:p>
            <a:pPr algn="l">
              <a:spcAft>
                <a:spcPts val="100"/>
              </a:spcAft>
            </a:pPr>
            <a:r>
              <a:rPr sz="800">
                <a:solidFill>
                  <a:srgbClr val="2A1A0A"/>
                </a:solidFill>
                <a:latin typeface="Consolas"/>
              </a:rPr>
              <a:t>+ calculateScore()</a:t>
            </a:r>
          </a:p>
          <a:p>
            <a:pPr algn="l">
              <a:spcAft>
                <a:spcPts val="100"/>
              </a:spcAft>
            </a:pPr>
            <a:r>
              <a:rPr sz="800">
                <a:solidFill>
                  <a:srgbClr val="2A1A0A"/>
                </a:solidFill>
                <a:latin typeface="Consolas"/>
              </a:rPr>
              <a:t>+ calculateChanceScore()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26080" y="2926080"/>
            <a:ext cx="1920240" cy="1097280"/>
          </a:xfrm>
          <a:prstGeom prst="rect">
            <a:avLst/>
          </a:prstGeom>
          <a:solidFill>
            <a:srgbClr val="EAD49B"/>
          </a:solidFill>
          <a:ln w="15875">
            <a:solidFill>
              <a:srgbClr val="3A2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926080" y="2926080"/>
            <a:ext cx="1920240" cy="274320"/>
          </a:xfrm>
          <a:prstGeom prst="rect">
            <a:avLst/>
          </a:prstGeom>
          <a:solidFill>
            <a:srgbClr val="3A2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26080" y="2926080"/>
            <a:ext cx="19202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F8ECC8"/>
                </a:solidFill>
                <a:latin typeface="Consolas"/>
              </a:rPr>
              <a:t>Player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71800" y="3200400"/>
            <a:ext cx="1828800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800">
                <a:solidFill>
                  <a:srgbClr val="2A1A0A"/>
                </a:solidFill>
                <a:latin typeface="Consolas"/>
              </a:rPr>
              <a:t>- alias: String</a:t>
            </a:r>
          </a:p>
          <a:p>
            <a:pPr algn="l">
              <a:spcAft>
                <a:spcPts val="100"/>
              </a:spcAft>
            </a:pPr>
            <a:r>
              <a:rPr sz="800">
                <a:solidFill>
                  <a:srgbClr val="2A1A0A"/>
                </a:solidFill>
                <a:latin typeface="Consolas"/>
              </a:rPr>
              <a:t>- matchScore: int</a:t>
            </a:r>
          </a:p>
          <a:p>
            <a:pPr algn="l">
              <a:spcAft>
                <a:spcPts val="100"/>
              </a:spcAft>
            </a:pPr>
            <a:r>
              <a:rPr sz="800">
                <a:solidFill>
                  <a:srgbClr val="2A1A0A"/>
                </a:solidFill>
                <a:latin typeface="Consolas"/>
              </a:rPr>
              <a:t>+ addMatchScore(p)</a:t>
            </a:r>
          </a:p>
          <a:p>
            <a:pPr algn="l">
              <a:spcAft>
                <a:spcPts val="100"/>
              </a:spcAft>
            </a:pPr>
            <a:r>
              <a:rPr sz="800">
                <a:solidFill>
                  <a:srgbClr val="2A1A0A"/>
                </a:solidFill>
                <a:latin typeface="Consolas"/>
              </a:rPr>
              <a:t>+ resetMatchScore()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83480" y="2926080"/>
            <a:ext cx="1920240" cy="1097280"/>
          </a:xfrm>
          <a:prstGeom prst="rect">
            <a:avLst/>
          </a:prstGeom>
          <a:solidFill>
            <a:srgbClr val="EAD49B"/>
          </a:solidFill>
          <a:ln w="15875">
            <a:solidFill>
              <a:srgbClr val="3A2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983480" y="2926080"/>
            <a:ext cx="1920240" cy="274320"/>
          </a:xfrm>
          <a:prstGeom prst="rect">
            <a:avLst/>
          </a:prstGeom>
          <a:solidFill>
            <a:srgbClr val="3A2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83480" y="2926080"/>
            <a:ext cx="19202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F8ECC8"/>
                </a:solidFill>
                <a:latin typeface="Consolas"/>
              </a:rPr>
              <a:t>ScoreRecord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3200400"/>
            <a:ext cx="1828800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800">
                <a:solidFill>
                  <a:srgbClr val="2A1A0A"/>
                </a:solidFill>
                <a:latin typeface="Consolas"/>
              </a:rPr>
              <a:t>- playerName: String</a:t>
            </a:r>
          </a:p>
          <a:p>
            <a:pPr algn="l">
              <a:spcAft>
                <a:spcPts val="100"/>
              </a:spcAft>
            </a:pPr>
            <a:r>
              <a:rPr sz="800">
                <a:solidFill>
                  <a:srgbClr val="2A1A0A"/>
                </a:solidFill>
                <a:latin typeface="Consolas"/>
              </a:rPr>
              <a:t>- score: long</a:t>
            </a:r>
          </a:p>
          <a:p>
            <a:pPr algn="l">
              <a:spcAft>
                <a:spcPts val="100"/>
              </a:spcAft>
            </a:pPr>
            <a:r>
              <a:rPr sz="800">
                <a:solidFill>
                  <a:srgbClr val="2A1A0A"/>
                </a:solidFill>
                <a:latin typeface="Consolas"/>
              </a:rPr>
              <a:t>+ compareTo(other)</a:t>
            </a:r>
          </a:p>
          <a:p>
            <a:pPr algn="l">
              <a:spcAft>
                <a:spcPts val="100"/>
              </a:spcAft>
            </a:pPr>
            <a:r>
              <a:rPr sz="800">
                <a:solidFill>
                  <a:srgbClr val="2A1A0A"/>
                </a:solidFill>
                <a:latin typeface="Consolas"/>
              </a:rPr>
              <a:t>implements Comparable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526280"/>
            <a:ext cx="2194560" cy="1280160"/>
          </a:xfrm>
          <a:prstGeom prst="rect">
            <a:avLst/>
          </a:prstGeom>
          <a:solidFill>
            <a:srgbClr val="C89548"/>
          </a:solidFill>
          <a:ln w="15875">
            <a:solidFill>
              <a:srgbClr val="3A2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4526280"/>
            <a:ext cx="2194560" cy="274320"/>
          </a:xfrm>
          <a:prstGeom prst="rect">
            <a:avLst/>
          </a:prstGeom>
          <a:solidFill>
            <a:srgbClr val="3A2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526280"/>
            <a:ext cx="21945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F8ECC8"/>
                </a:solidFill>
                <a:latin typeface="Consolas"/>
              </a:rPr>
              <a:t>DBConnection (Singleton)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800600"/>
            <a:ext cx="210312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800">
                <a:solidFill>
                  <a:srgbClr val="2A1A0A"/>
                </a:solidFill>
                <a:latin typeface="Consolas"/>
              </a:rPr>
              <a:t>- instance: DBConnection</a:t>
            </a:r>
          </a:p>
          <a:p>
            <a:pPr algn="l">
              <a:spcAft>
                <a:spcPts val="100"/>
              </a:spcAft>
            </a:pPr>
            <a:r>
              <a:rPr sz="800">
                <a:solidFill>
                  <a:srgbClr val="2A1A0A"/>
                </a:solidFill>
                <a:latin typeface="Consolas"/>
              </a:rPr>
              <a:t>- connection: Connection</a:t>
            </a:r>
          </a:p>
          <a:p>
            <a:pPr algn="l">
              <a:spcAft>
                <a:spcPts val="100"/>
              </a:spcAft>
            </a:pPr>
            <a:r>
              <a:rPr sz="800">
                <a:solidFill>
                  <a:srgbClr val="2A1A0A"/>
                </a:solidFill>
                <a:latin typeface="Consolas"/>
              </a:rPr>
              <a:t>+ getInstance()</a:t>
            </a:r>
          </a:p>
          <a:p>
            <a:pPr algn="l">
              <a:spcAft>
                <a:spcPts val="100"/>
              </a:spcAft>
            </a:pPr>
            <a:r>
              <a:rPr sz="800">
                <a:solidFill>
                  <a:srgbClr val="2A1A0A"/>
                </a:solidFill>
                <a:latin typeface="Consolas"/>
              </a:rPr>
              <a:t>+ getConnection()</a:t>
            </a:r>
          </a:p>
          <a:p>
            <a:pPr algn="l">
              <a:spcAft>
                <a:spcPts val="100"/>
              </a:spcAft>
            </a:pPr>
            <a:r>
              <a:rPr sz="800">
                <a:solidFill>
                  <a:srgbClr val="2A1A0A"/>
                </a:solidFill>
                <a:latin typeface="Consolas"/>
              </a:rPr>
              <a:t>+ closeConnection()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26080" y="4526280"/>
            <a:ext cx="1920240" cy="914400"/>
          </a:xfrm>
          <a:prstGeom prst="rect">
            <a:avLst/>
          </a:prstGeom>
          <a:solidFill>
            <a:srgbClr val="C89548"/>
          </a:solidFill>
          <a:ln w="15875">
            <a:solidFill>
              <a:srgbClr val="3A2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926080" y="4526280"/>
            <a:ext cx="1920240" cy="274320"/>
          </a:xfrm>
          <a:prstGeom prst="rect">
            <a:avLst/>
          </a:prstGeom>
          <a:solidFill>
            <a:srgbClr val="3A2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26080" y="4526280"/>
            <a:ext cx="19202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F8ECC8"/>
                </a:solidFill>
                <a:latin typeface="Consolas"/>
              </a:rPr>
              <a:t>DictionaryDAO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71800" y="4800600"/>
            <a:ext cx="182880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800">
                <a:solidFill>
                  <a:srgbClr val="2A1A0A"/>
                </a:solidFill>
                <a:latin typeface="Consolas"/>
              </a:rPr>
              <a:t>+ getRandomWord(diff)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4526280"/>
            <a:ext cx="1920240" cy="1280160"/>
          </a:xfrm>
          <a:prstGeom prst="rect">
            <a:avLst/>
          </a:prstGeom>
          <a:solidFill>
            <a:srgbClr val="C89548"/>
          </a:solidFill>
          <a:ln w="15875">
            <a:solidFill>
              <a:srgbClr val="3A2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983480" y="4526280"/>
            <a:ext cx="1920240" cy="274320"/>
          </a:xfrm>
          <a:prstGeom prst="rect">
            <a:avLst/>
          </a:prstGeom>
          <a:solidFill>
            <a:srgbClr val="3A2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83480" y="4526280"/>
            <a:ext cx="19202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F8ECC8"/>
                </a:solidFill>
                <a:latin typeface="Consolas"/>
              </a:rPr>
              <a:t>ScoreDAO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0" y="4800600"/>
            <a:ext cx="182880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800">
                <a:solidFill>
                  <a:srgbClr val="2A1A0A"/>
                </a:solidFill>
                <a:latin typeface="Consolas"/>
              </a:rPr>
              <a:t>+ saveScore(...)</a:t>
            </a:r>
          </a:p>
          <a:p>
            <a:pPr algn="l">
              <a:spcAft>
                <a:spcPts val="100"/>
              </a:spcAft>
            </a:pPr>
            <a:r>
              <a:rPr sz="800">
                <a:solidFill>
                  <a:srgbClr val="2A1A0A"/>
                </a:solidFill>
                <a:latin typeface="Consolas"/>
              </a:rPr>
              <a:t>+ getTop10Scores(diff)</a:t>
            </a:r>
          </a:p>
          <a:p>
            <a:pPr algn="l">
              <a:spcAft>
                <a:spcPts val="100"/>
              </a:spcAft>
            </a:pPr>
            <a:r>
              <a:rPr sz="800">
                <a:solidFill>
                  <a:srgbClr val="2A1A0A"/>
                </a:solidFill>
                <a:latin typeface="Consolas"/>
              </a:rPr>
              <a:t>+ isTop10(diff, score)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086600" y="4526280"/>
            <a:ext cx="2194560" cy="1280160"/>
          </a:xfrm>
          <a:prstGeom prst="rect">
            <a:avLst/>
          </a:prstGeom>
          <a:solidFill>
            <a:srgbClr val="C0D0A8"/>
          </a:solidFill>
          <a:ln w="15875">
            <a:solidFill>
              <a:srgbClr val="3A2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086600" y="4526280"/>
            <a:ext cx="2194560" cy="274320"/>
          </a:xfrm>
          <a:prstGeom prst="rect">
            <a:avLst/>
          </a:prstGeom>
          <a:solidFill>
            <a:srgbClr val="3A2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086600" y="4526280"/>
            <a:ext cx="21945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F8ECC8"/>
                </a:solidFill>
                <a:latin typeface="Consolas"/>
              </a:rPr>
              <a:t>ScoreBoard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32320" y="4800600"/>
            <a:ext cx="210312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800">
                <a:solidFill>
                  <a:srgbClr val="2A1A0A"/>
                </a:solidFill>
                <a:latin typeface="Consolas"/>
              </a:rPr>
              <a:t>- scoreDAO: ScoreDAO</a:t>
            </a:r>
          </a:p>
          <a:p>
            <a:pPr algn="l">
              <a:spcAft>
                <a:spcPts val="100"/>
              </a:spcAft>
            </a:pPr>
            <a:r>
              <a:rPr sz="800">
                <a:solidFill>
                  <a:srgbClr val="2A1A0A"/>
                </a:solidFill>
                <a:latin typeface="Consolas"/>
              </a:rPr>
              <a:t>+ addScore(...)</a:t>
            </a:r>
          </a:p>
          <a:p>
            <a:pPr algn="l">
              <a:spcAft>
                <a:spcPts val="100"/>
              </a:spcAft>
            </a:pPr>
            <a:r>
              <a:rPr sz="800">
                <a:solidFill>
                  <a:srgbClr val="2A1A0A"/>
                </a:solidFill>
                <a:latin typeface="Consolas"/>
              </a:rPr>
              <a:t>+ getTop10(diff)</a:t>
            </a:r>
          </a:p>
          <a:p>
            <a:pPr algn="l">
              <a:spcAft>
                <a:spcPts val="100"/>
              </a:spcAft>
            </a:pPr>
            <a:r>
              <a:rPr sz="800">
                <a:solidFill>
                  <a:srgbClr val="2A1A0A"/>
                </a:solidFill>
                <a:latin typeface="Consolas"/>
              </a:rPr>
              <a:t>+ isTop10(diff, score)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086600" y="1691640"/>
            <a:ext cx="2194560" cy="914400"/>
          </a:xfrm>
          <a:prstGeom prst="rect">
            <a:avLst/>
          </a:prstGeom>
          <a:solidFill>
            <a:srgbClr val="C8B8E0"/>
          </a:solidFill>
          <a:ln w="15875">
            <a:solidFill>
              <a:srgbClr val="3A2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1691640"/>
            <a:ext cx="2194560" cy="274320"/>
          </a:xfrm>
          <a:prstGeom prst="rect">
            <a:avLst/>
          </a:prstGeom>
          <a:solidFill>
            <a:srgbClr val="3A2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86600" y="1691640"/>
            <a:ext cx="21945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F8ECC8"/>
                </a:solidFill>
                <a:latin typeface="Consolas"/>
              </a:rPr>
              <a:t>GameManager (abstract)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32320" y="1965960"/>
            <a:ext cx="210312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800">
                <a:solidFill>
                  <a:srgbClr val="2A1A0A"/>
                </a:solidFill>
                <a:latin typeface="Consolas"/>
              </a:rPr>
              <a:t># activeSession</a:t>
            </a:r>
          </a:p>
          <a:p>
            <a:pPr algn="l">
              <a:spcAft>
                <a:spcPts val="100"/>
              </a:spcAft>
            </a:pPr>
            <a:r>
              <a:rPr sz="800">
                <a:solidFill>
                  <a:srgbClr val="2A1A0A"/>
                </a:solidFill>
                <a:latin typeface="Consolas"/>
              </a:rPr>
              <a:t>+ getActiveSession()</a:t>
            </a:r>
          </a:p>
          <a:p>
            <a:pPr algn="l">
              <a:spcAft>
                <a:spcPts val="100"/>
              </a:spcAft>
            </a:pPr>
            <a:r>
              <a:rPr sz="800">
                <a:solidFill>
                  <a:srgbClr val="2A1A0A"/>
                </a:solidFill>
                <a:latin typeface="Consolas"/>
              </a:rPr>
              <a:t>+ startRound() {abstract}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086600" y="2788920"/>
            <a:ext cx="2194560" cy="1463040"/>
          </a:xfrm>
          <a:prstGeom prst="rect">
            <a:avLst/>
          </a:prstGeom>
          <a:solidFill>
            <a:srgbClr val="C8B8E0"/>
          </a:solidFill>
          <a:ln w="15875">
            <a:solidFill>
              <a:srgbClr val="3A2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086600" y="2788920"/>
            <a:ext cx="2194560" cy="274320"/>
          </a:xfrm>
          <a:prstGeom prst="rect">
            <a:avLst/>
          </a:prstGeom>
          <a:solidFill>
            <a:srgbClr val="3A2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086600" y="2788920"/>
            <a:ext cx="21945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F8ECC8"/>
                </a:solidFill>
                <a:latin typeface="Consolas"/>
              </a:rPr>
              <a:t>SinglePlayerManager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32320" y="3063240"/>
            <a:ext cx="2103120" cy="11887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800">
                <a:solidFill>
                  <a:srgbClr val="2A1A0A"/>
                </a:solidFill>
                <a:latin typeface="Consolas"/>
              </a:rPr>
              <a:t>- currentDifficulty</a:t>
            </a:r>
          </a:p>
          <a:p>
            <a:pPr algn="l">
              <a:spcAft>
                <a:spcPts val="100"/>
              </a:spcAft>
            </a:pPr>
            <a:r>
              <a:rPr sz="800">
                <a:solidFill>
                  <a:srgbClr val="2A1A0A"/>
                </a:solidFill>
                <a:latin typeface="Consolas"/>
              </a:rPr>
              <a:t>+ startRound()</a:t>
            </a:r>
          </a:p>
          <a:p>
            <a:pPr algn="l">
              <a:spcAft>
                <a:spcPts val="100"/>
              </a:spcAft>
            </a:pPr>
            <a:r>
              <a:rPr sz="800">
                <a:solidFill>
                  <a:srgbClr val="2A1A0A"/>
                </a:solidFill>
                <a:latin typeface="Consolas"/>
              </a:rPr>
              <a:t>+ checkScoreboardEligibility()</a:t>
            </a:r>
          </a:p>
          <a:p>
            <a:pPr algn="l">
              <a:spcAft>
                <a:spcPts val="100"/>
              </a:spcAft>
            </a:pPr>
            <a:r>
              <a:rPr sz="800">
                <a:solidFill>
                  <a:srgbClr val="2A1A0A"/>
                </a:solidFill>
                <a:latin typeface="Consolas"/>
              </a:rPr>
              <a:t>+ registerHighScore(name)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464040" y="2788920"/>
            <a:ext cx="2286000" cy="2286000"/>
          </a:xfrm>
          <a:prstGeom prst="rect">
            <a:avLst/>
          </a:prstGeom>
          <a:solidFill>
            <a:srgbClr val="C8B8E0"/>
          </a:solidFill>
          <a:ln w="15875">
            <a:solidFill>
              <a:srgbClr val="3A2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464040" y="2788920"/>
            <a:ext cx="2286000" cy="274320"/>
          </a:xfrm>
          <a:prstGeom prst="rect">
            <a:avLst/>
          </a:prstGeom>
          <a:solidFill>
            <a:srgbClr val="3A2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464040" y="2788920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F8ECC8"/>
                </a:solidFill>
                <a:latin typeface="Consolas"/>
              </a:rPr>
              <a:t>MultiplayerManager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09760" y="3063240"/>
            <a:ext cx="2194560" cy="2011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800">
                <a:solidFill>
                  <a:srgbClr val="2A1A0A"/>
                </a:solidFill>
                <a:latin typeface="Consolas"/>
              </a:rPr>
              <a:t>- player1, player2</a:t>
            </a:r>
          </a:p>
          <a:p>
            <a:pPr algn="l">
              <a:spcAft>
                <a:spcPts val="100"/>
              </a:spcAft>
            </a:pPr>
            <a:r>
              <a:rPr sz="800">
                <a:solidFill>
                  <a:srgbClr val="2A1A0A"/>
                </a:solidFill>
                <a:latin typeface="Consolas"/>
              </a:rPr>
              <a:t>- isPlayer1Turn</a:t>
            </a:r>
          </a:p>
          <a:p>
            <a:pPr algn="l">
              <a:spcAft>
                <a:spcPts val="100"/>
              </a:spcAft>
            </a:pPr>
            <a:r>
              <a:rPr sz="800">
                <a:solidFill>
                  <a:srgbClr val="2A1A0A"/>
                </a:solidFill>
                <a:latin typeface="Consolas"/>
              </a:rPr>
              <a:t>+ startHalfRound(secret)</a:t>
            </a:r>
          </a:p>
          <a:p>
            <a:pPr algn="l">
              <a:spcAft>
                <a:spcPts val="100"/>
              </a:spcAft>
            </a:pPr>
            <a:r>
              <a:rPr sz="800">
                <a:solidFill>
                  <a:srgbClr val="2A1A0A"/>
                </a:solidFill>
                <a:latin typeface="Consolas"/>
              </a:rPr>
              <a:t>+ switchTurn()</a:t>
            </a:r>
          </a:p>
          <a:p>
            <a:pPr algn="l">
              <a:spcAft>
                <a:spcPts val="100"/>
              </a:spcAft>
            </a:pPr>
            <a:r>
              <a:rPr sz="800">
                <a:solidFill>
                  <a:srgbClr val="2A1A0A"/>
                </a:solidFill>
                <a:latin typeface="Consolas"/>
              </a:rPr>
              <a:t>+ determineWinner()</a:t>
            </a:r>
          </a:p>
          <a:p>
            <a:pPr algn="l">
              <a:spcAft>
                <a:spcPts val="100"/>
              </a:spcAft>
            </a:pPr>
            <a:r>
              <a:rPr sz="800">
                <a:solidFill>
                  <a:srgbClr val="2A1A0A"/>
                </a:solidFill>
                <a:latin typeface="Consolas"/>
              </a:rPr>
              <a:t>+ pickTieBreakerWord()</a:t>
            </a:r>
          </a:p>
          <a:p>
            <a:pPr algn="l">
              <a:spcAft>
                <a:spcPts val="100"/>
              </a:spcAft>
            </a:pPr>
            <a:r>
              <a:rPr sz="800">
                <a:solidFill>
                  <a:srgbClr val="2A1A0A"/>
                </a:solidFill>
                <a:latin typeface="Consolas"/>
              </a:rPr>
              <a:t>+ startTieBreakerWithWord(w)</a:t>
            </a:r>
          </a:p>
          <a:p>
            <a:pPr algn="l">
              <a:spcAft>
                <a:spcPts val="100"/>
              </a:spcAft>
            </a:pPr>
            <a:r>
              <a:rPr sz="800">
                <a:solidFill>
                  <a:srgbClr val="2A1A0A"/>
                </a:solidFill>
                <a:latin typeface="Consolas"/>
              </a:rPr>
              <a:t>+ resetMatch()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464040" y="5166360"/>
            <a:ext cx="2286000" cy="777240"/>
          </a:xfrm>
          <a:prstGeom prst="rect">
            <a:avLst/>
          </a:prstGeom>
          <a:solidFill>
            <a:srgbClr val="B0D0E5"/>
          </a:solidFill>
          <a:ln w="15875">
            <a:solidFill>
              <a:srgbClr val="3A2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464040" y="5166360"/>
            <a:ext cx="2286000" cy="274320"/>
          </a:xfrm>
          <a:prstGeom prst="rect">
            <a:avLst/>
          </a:prstGeom>
          <a:solidFill>
            <a:srgbClr val="3A2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464040" y="5166360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F8ECC8"/>
                </a:solidFill>
                <a:latin typeface="Consolas"/>
              </a:rPr>
              <a:t>GameWindow + BackgroundPane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509760" y="5440680"/>
            <a:ext cx="219456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800">
                <a:solidFill>
                  <a:srgbClr val="2A1A0A"/>
                </a:solidFill>
                <a:latin typeface="Consolas"/>
              </a:rPr>
              <a:t>+ VirtualKeyboard</a:t>
            </a:r>
          </a:p>
          <a:p>
            <a:pPr algn="l">
              <a:spcAft>
                <a:spcPts val="100"/>
              </a:spcAft>
            </a:pPr>
            <a:r>
              <a:rPr sz="800">
                <a:solidFill>
                  <a:srgbClr val="2A1A0A"/>
                </a:solidFill>
                <a:latin typeface="Consolas"/>
              </a:rPr>
              <a:t>+ MatchEndMenu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2920" y="5852160"/>
            <a:ext cx="9144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5D3A1A"/>
                </a:solidFill>
                <a:latin typeface="Calibri"/>
              </a:rPr>
              <a:t>Voir la documentation technique pour les diagrammes UML détaillés avec cardinalités et associations.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5760" y="6263640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5D3A1A"/>
                </a:solidFill>
                <a:latin typeface="Calibri"/>
              </a:rPr>
              <a:t>Pirate's Hangman   ·   2. Diagramme de classes UML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15600" y="6263640"/>
            <a:ext cx="1371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100" b="0" i="1">
                <a:solidFill>
                  <a:srgbClr val="5D3A1A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E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EAD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18000"/>
          </a:xfrm>
          <a:prstGeom prst="rect">
            <a:avLst/>
          </a:prstGeom>
          <a:solidFill>
            <a:srgbClr val="8B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10000"/>
          </a:xfrm>
          <a:prstGeom prst="rect">
            <a:avLst/>
          </a:prstGeom>
          <a:solidFill>
            <a:srgbClr val="C895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080760"/>
            <a:ext cx="12191695" cy="18000"/>
          </a:xfrm>
          <a:prstGeom prst="rect">
            <a:avLst/>
          </a:prstGeom>
          <a:solidFill>
            <a:srgbClr val="8B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2880"/>
            <a:ext cx="128016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6400" b="1" i="0">
                <a:solidFill>
                  <a:srgbClr val="C89548"/>
                </a:solidFill>
                <a:latin typeface="Georgia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92608"/>
            <a:ext cx="100584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 i="0">
                <a:solidFill>
                  <a:srgbClr val="2A1A0A"/>
                </a:solidFill>
                <a:latin typeface="Georgia"/>
              </a:rPr>
              <a:t>Architecture en couches MVC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3703320" cy="4526280"/>
          </a:xfrm>
          <a:prstGeom prst="roundRect">
            <a:avLst>
              <a:gd name="adj" fmla="val 4000"/>
            </a:avLst>
          </a:prstGeom>
          <a:solidFill>
            <a:srgbClr val="FFF7DE"/>
          </a:solidFill>
          <a:ln w="19050">
            <a:solidFill>
              <a:srgbClr val="3A2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3703320" cy="594360"/>
          </a:xfrm>
          <a:prstGeom prst="rect">
            <a:avLst/>
          </a:prstGeom>
          <a:solidFill>
            <a:srgbClr val="2C5F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325880"/>
            <a:ext cx="370332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</a:rPr>
              <a:t>VUE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011680"/>
            <a:ext cx="37033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0" i="1">
                <a:solidFill>
                  <a:srgbClr val="5D3A1A"/>
                </a:solidFill>
                <a:latin typeface="Calibri"/>
              </a:rPr>
              <a:t>Couche d'affichage (UI)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423160"/>
            <a:ext cx="3154680" cy="3474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9548"/>
                </a:solidFill>
                <a:latin typeface="Calibri"/>
              </a:rPr>
              <a:t>● </a:t>
            </a:r>
            <a:r>
              <a:rPr sz="1200">
                <a:solidFill>
                  <a:srgbClr val="2A1A0A"/>
                </a:solidFill>
                <a:latin typeface="Calibri"/>
              </a:rPr>
              <a:t>package hangman.ui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C89548"/>
                </a:solidFill>
                <a:latin typeface="Calibri"/>
              </a:rPr>
              <a:t>● </a:t>
            </a:r>
            <a:r>
              <a:rPr sz="1200">
                <a:solidFill>
                  <a:srgbClr val="2A1A0A"/>
                </a:solidFill>
                <a:latin typeface="Calibri"/>
              </a:rPr>
              <a:t>GameWindow (Application JavaFX)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C89548"/>
                </a:solidFill>
                <a:latin typeface="Calibri"/>
              </a:rPr>
              <a:t>● </a:t>
            </a:r>
            <a:r>
              <a:rPr sz="1200">
                <a:solidFill>
                  <a:srgbClr val="2A1A0A"/>
                </a:solidFill>
                <a:latin typeface="Calibri"/>
              </a:rPr>
              <a:t>BackgroundPane — image de fond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C89548"/>
                </a:solidFill>
                <a:latin typeface="Calibri"/>
              </a:rPr>
              <a:t>● </a:t>
            </a:r>
            <a:r>
              <a:rPr sz="1200">
                <a:solidFill>
                  <a:srgbClr val="2A1A0A"/>
                </a:solidFill>
                <a:latin typeface="Calibri"/>
              </a:rPr>
              <a:t>VirtualKeyboard — clavier QWERTY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C89548"/>
                </a:solidFill>
                <a:latin typeface="Calibri"/>
              </a:rPr>
              <a:t>● </a:t>
            </a:r>
            <a:r>
              <a:rPr sz="1200">
                <a:solidFill>
                  <a:srgbClr val="2A1A0A"/>
                </a:solidFill>
                <a:latin typeface="Calibri"/>
              </a:rPr>
              <a:t>MatchEndMenu — popup fin de match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C89548"/>
                </a:solidFill>
                <a:latin typeface="Calibri"/>
              </a:rPr>
              <a:t>● </a:t>
            </a:r>
            <a:r>
              <a:rPr sz="1200">
                <a:solidFill>
                  <a:srgbClr val="2A1A0A"/>
                </a:solidFill>
                <a:latin typeface="Calibri"/>
              </a:rPr>
              <a:t>theme.css — habillage thématique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C89548"/>
                </a:solidFill>
                <a:latin typeface="Calibri"/>
              </a:rPr>
              <a:t>● </a:t>
            </a:r>
            <a:r>
              <a:rPr sz="1200">
                <a:solidFill>
                  <a:srgbClr val="2A1A0A"/>
                </a:solidFill>
                <a:latin typeface="Calibri"/>
              </a:rPr>
              <a:t>Aucune logique métier ici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325880"/>
            <a:ext cx="3703320" cy="4526280"/>
          </a:xfrm>
          <a:prstGeom prst="roundRect">
            <a:avLst>
              <a:gd name="adj" fmla="val 4000"/>
            </a:avLst>
          </a:prstGeom>
          <a:solidFill>
            <a:srgbClr val="FFF7DE"/>
          </a:solidFill>
          <a:ln w="19050">
            <a:solidFill>
              <a:srgbClr val="3A2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325880"/>
            <a:ext cx="3703320" cy="594360"/>
          </a:xfrm>
          <a:prstGeom prst="rect">
            <a:avLst/>
          </a:prstGeom>
          <a:solidFill>
            <a:srgbClr val="8B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60" y="1325880"/>
            <a:ext cx="370332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</a:rPr>
              <a:t>CONTRÔLEUR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2011680"/>
            <a:ext cx="37033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0" i="1">
                <a:solidFill>
                  <a:srgbClr val="5D3A1A"/>
                </a:solidFill>
                <a:latin typeface="Calibri"/>
              </a:rPr>
              <a:t>Orchestration des modes de jeu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423160"/>
            <a:ext cx="3154680" cy="3474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9548"/>
                </a:solidFill>
                <a:latin typeface="Calibri"/>
              </a:rPr>
              <a:t>● </a:t>
            </a:r>
            <a:r>
              <a:rPr sz="1200">
                <a:solidFill>
                  <a:srgbClr val="2A1A0A"/>
                </a:solidFill>
                <a:latin typeface="Calibri"/>
              </a:rPr>
              <a:t>package hangman.managers + services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C89548"/>
                </a:solidFill>
                <a:latin typeface="Calibri"/>
              </a:rPr>
              <a:t>● </a:t>
            </a:r>
            <a:r>
              <a:rPr sz="1200">
                <a:solidFill>
                  <a:srgbClr val="2A1A0A"/>
                </a:solidFill>
                <a:latin typeface="Calibri"/>
              </a:rPr>
              <a:t>GameManager (abstract)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C89548"/>
                </a:solidFill>
                <a:latin typeface="Calibri"/>
              </a:rPr>
              <a:t>● </a:t>
            </a:r>
            <a:r>
              <a:rPr sz="1200">
                <a:solidFill>
                  <a:srgbClr val="2A1A0A"/>
                </a:solidFill>
                <a:latin typeface="Calibri"/>
              </a:rPr>
              <a:t>SinglePlayerManager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C89548"/>
                </a:solidFill>
                <a:latin typeface="Calibri"/>
              </a:rPr>
              <a:t>● </a:t>
            </a:r>
            <a:r>
              <a:rPr sz="1200">
                <a:solidFill>
                  <a:srgbClr val="2A1A0A"/>
                </a:solidFill>
                <a:latin typeface="Calibri"/>
              </a:rPr>
              <a:t>MultiplayerManager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C89548"/>
                </a:solidFill>
                <a:latin typeface="Calibri"/>
              </a:rPr>
              <a:t>● </a:t>
            </a:r>
            <a:r>
              <a:rPr sz="1200">
                <a:solidFill>
                  <a:srgbClr val="2A1A0A"/>
                </a:solidFill>
                <a:latin typeface="Calibri"/>
              </a:rPr>
              <a:t>ScoreBoard — couche métier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C89548"/>
                </a:solidFill>
                <a:latin typeface="Calibri"/>
              </a:rPr>
              <a:t>● </a:t>
            </a:r>
            <a:r>
              <a:rPr sz="1200">
                <a:solidFill>
                  <a:srgbClr val="2A1A0A"/>
                </a:solidFill>
                <a:latin typeface="Calibri"/>
              </a:rPr>
              <a:t>Reçoit les actions de la Vue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C89548"/>
                </a:solidFill>
                <a:latin typeface="Calibri"/>
              </a:rPr>
              <a:t>● </a:t>
            </a:r>
            <a:r>
              <a:rPr sz="1200">
                <a:solidFill>
                  <a:srgbClr val="2A1A0A"/>
                </a:solidFill>
                <a:latin typeface="Calibri"/>
              </a:rPr>
              <a:t>Met à jour le Modèle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325880"/>
            <a:ext cx="3703320" cy="4526280"/>
          </a:xfrm>
          <a:prstGeom prst="roundRect">
            <a:avLst>
              <a:gd name="adj" fmla="val 4000"/>
            </a:avLst>
          </a:prstGeom>
          <a:solidFill>
            <a:srgbClr val="FFF7DE"/>
          </a:solidFill>
          <a:ln w="19050">
            <a:solidFill>
              <a:srgbClr val="3A2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325880"/>
            <a:ext cx="3703320" cy="594360"/>
          </a:xfrm>
          <a:prstGeom prst="rect">
            <a:avLst/>
          </a:prstGeom>
          <a:solidFill>
            <a:srgbClr val="A04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1325880"/>
            <a:ext cx="370332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</a:rPr>
              <a:t>MODÈLE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2011680"/>
            <a:ext cx="37033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0" i="1">
                <a:solidFill>
                  <a:srgbClr val="5D3A1A"/>
                </a:solidFill>
                <a:latin typeface="Calibri"/>
              </a:rPr>
              <a:t>Données + accès aux données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423160"/>
            <a:ext cx="3154680" cy="3474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9548"/>
                </a:solidFill>
                <a:latin typeface="Calibri"/>
              </a:rPr>
              <a:t>● </a:t>
            </a:r>
            <a:r>
              <a:rPr sz="1200">
                <a:solidFill>
                  <a:srgbClr val="2A1A0A"/>
                </a:solidFill>
                <a:latin typeface="Calibri"/>
              </a:rPr>
              <a:t>package hangman.models, db, enums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C89548"/>
                </a:solidFill>
                <a:latin typeface="Calibri"/>
              </a:rPr>
              <a:t>● </a:t>
            </a:r>
            <a:r>
              <a:rPr sz="1200">
                <a:solidFill>
                  <a:srgbClr val="2A1A0A"/>
                </a:solidFill>
                <a:latin typeface="Calibri"/>
              </a:rPr>
              <a:t>GameSession — moteur de partie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C89548"/>
                </a:solidFill>
                <a:latin typeface="Calibri"/>
              </a:rPr>
              <a:t>● </a:t>
            </a:r>
            <a:r>
              <a:rPr sz="1200">
                <a:solidFill>
                  <a:srgbClr val="2A1A0A"/>
                </a:solidFill>
                <a:latin typeface="Calibri"/>
              </a:rPr>
              <a:t>Player, ScoreRecord — DTO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C89548"/>
                </a:solidFill>
                <a:latin typeface="Calibri"/>
              </a:rPr>
              <a:t>● </a:t>
            </a:r>
            <a:r>
              <a:rPr sz="1200">
                <a:solidFill>
                  <a:srgbClr val="2A1A0A"/>
                </a:solidFill>
                <a:latin typeface="Calibri"/>
              </a:rPr>
              <a:t>Difficulty (enum)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C89548"/>
                </a:solidFill>
                <a:latin typeface="Calibri"/>
              </a:rPr>
              <a:t>● </a:t>
            </a:r>
            <a:r>
              <a:rPr sz="1200">
                <a:solidFill>
                  <a:srgbClr val="2A1A0A"/>
                </a:solidFill>
                <a:latin typeface="Calibri"/>
              </a:rPr>
              <a:t>DBConnection (Singleton JDBC)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C89548"/>
                </a:solidFill>
                <a:latin typeface="Calibri"/>
              </a:rPr>
              <a:t>● </a:t>
            </a:r>
            <a:r>
              <a:rPr sz="1200">
                <a:solidFill>
                  <a:srgbClr val="2A1A0A"/>
                </a:solidFill>
                <a:latin typeface="Calibri"/>
              </a:rPr>
              <a:t>DictionaryDAO + ScoreDAO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C89548"/>
                </a:solidFill>
                <a:latin typeface="Calibri"/>
              </a:rPr>
              <a:t>● </a:t>
            </a:r>
            <a:r>
              <a:rPr sz="1200">
                <a:solidFill>
                  <a:srgbClr val="2A1A0A"/>
                </a:solidFill>
                <a:latin typeface="Calibri"/>
              </a:rPr>
              <a:t>MySQL via PreparedStatement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852160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0" i="1">
                <a:solidFill>
                  <a:srgbClr val="5D3A1A"/>
                </a:solidFill>
                <a:latin typeface="Calibri"/>
              </a:rPr>
              <a:t>Bénéfices : indépendance des couches · testabilité (injection de dépendances dans les managers) · maintenance simplifiée.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263640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5D3A1A"/>
                </a:solidFill>
                <a:latin typeface="Calibri"/>
              </a:rPr>
              <a:t>Pirate's Hangman   ·   3. Architecture MVC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263640"/>
            <a:ext cx="1371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100" b="0" i="1">
                <a:solidFill>
                  <a:srgbClr val="5D3A1A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E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EAD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18000"/>
          </a:xfrm>
          <a:prstGeom prst="rect">
            <a:avLst/>
          </a:prstGeom>
          <a:solidFill>
            <a:srgbClr val="8B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10000"/>
          </a:xfrm>
          <a:prstGeom prst="rect">
            <a:avLst/>
          </a:prstGeom>
          <a:solidFill>
            <a:srgbClr val="C895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080760"/>
            <a:ext cx="12191695" cy="18000"/>
          </a:xfrm>
          <a:prstGeom prst="rect">
            <a:avLst/>
          </a:prstGeom>
          <a:solidFill>
            <a:srgbClr val="8B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2880"/>
            <a:ext cx="128016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6400" b="1" i="0">
                <a:solidFill>
                  <a:srgbClr val="C89548"/>
                </a:solidFill>
                <a:latin typeface="Georgia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92608"/>
            <a:ext cx="100584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 i="0">
                <a:solidFill>
                  <a:srgbClr val="2A1A0A"/>
                </a:solidFill>
                <a:latin typeface="Georgia"/>
              </a:rPr>
              <a:t>Diagramme de navigation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417320"/>
            <a:ext cx="1920240" cy="640080"/>
          </a:xfrm>
          <a:prstGeom prst="roundRect">
            <a:avLst>
              <a:gd name="adj" fmla="val 12000"/>
            </a:avLst>
          </a:prstGeom>
          <a:solidFill>
            <a:srgbClr val="C89548"/>
          </a:solidFill>
          <a:ln w="19050">
            <a:solidFill>
              <a:srgbClr val="3A2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0" y="1417320"/>
            <a:ext cx="192024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2A1A0A"/>
                </a:solidFill>
                <a:latin typeface="Calibri"/>
              </a:rPr>
              <a:t>Menu principal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06040"/>
            <a:ext cx="1920240" cy="640080"/>
          </a:xfrm>
          <a:prstGeom prst="roundRect">
            <a:avLst>
              <a:gd name="adj" fmla="val 12000"/>
            </a:avLst>
          </a:prstGeom>
          <a:solidFill>
            <a:srgbClr val="FFF7DE"/>
          </a:solidFill>
          <a:ln w="19050">
            <a:solidFill>
              <a:srgbClr val="3A2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06040"/>
            <a:ext cx="192024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2A1A0A"/>
                </a:solidFill>
                <a:latin typeface="Calibri"/>
              </a:rPr>
              <a:t>Set Sail Alone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2606040"/>
            <a:ext cx="1920240" cy="640080"/>
          </a:xfrm>
          <a:prstGeom prst="roundRect">
            <a:avLst>
              <a:gd name="adj" fmla="val 12000"/>
            </a:avLst>
          </a:prstGeom>
          <a:solidFill>
            <a:srgbClr val="FFF7DE"/>
          </a:solidFill>
          <a:ln w="19050">
            <a:solidFill>
              <a:srgbClr val="3A2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2606040"/>
            <a:ext cx="192024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2A1A0A"/>
                </a:solidFill>
                <a:latin typeface="Calibri"/>
              </a:rPr>
              <a:t>Duel of Captains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0" y="2606040"/>
            <a:ext cx="1920240" cy="640080"/>
          </a:xfrm>
          <a:prstGeom prst="roundRect">
            <a:avLst>
              <a:gd name="adj" fmla="val 12000"/>
            </a:avLst>
          </a:prstGeom>
          <a:solidFill>
            <a:srgbClr val="FFF7DE"/>
          </a:solidFill>
          <a:ln w="19050">
            <a:solidFill>
              <a:srgbClr val="3A2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2606040"/>
            <a:ext cx="192024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2A1A0A"/>
                </a:solidFill>
                <a:latin typeface="Calibri"/>
              </a:rPr>
              <a:t>Wall of Legends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794760"/>
            <a:ext cx="1920240" cy="640080"/>
          </a:xfrm>
          <a:prstGeom prst="roundRect">
            <a:avLst>
              <a:gd name="adj" fmla="val 12000"/>
            </a:avLst>
          </a:prstGeom>
          <a:solidFill>
            <a:srgbClr val="FFF7DE"/>
          </a:solidFill>
          <a:ln w="19050">
            <a:solidFill>
              <a:srgbClr val="3A2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794760"/>
            <a:ext cx="192024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2A1A0A"/>
                </a:solidFill>
                <a:latin typeface="Calibri"/>
              </a:rPr>
              <a:t>Choix difficulté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3794760"/>
            <a:ext cx="1920240" cy="640080"/>
          </a:xfrm>
          <a:prstGeom prst="roundRect">
            <a:avLst>
              <a:gd name="adj" fmla="val 12000"/>
            </a:avLst>
          </a:prstGeom>
          <a:solidFill>
            <a:srgbClr val="FFF7DE"/>
          </a:solidFill>
          <a:ln w="19050">
            <a:solidFill>
              <a:srgbClr val="3A2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3794760"/>
            <a:ext cx="192024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2A1A0A"/>
                </a:solidFill>
                <a:latin typeface="Calibri"/>
              </a:rPr>
              <a:t>Setup joueurs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3794760"/>
            <a:ext cx="1920240" cy="640080"/>
          </a:xfrm>
          <a:prstGeom prst="roundRect">
            <a:avLst>
              <a:gd name="adj" fmla="val 12000"/>
            </a:avLst>
          </a:prstGeom>
          <a:solidFill>
            <a:srgbClr val="EAD49B"/>
          </a:solidFill>
          <a:ln w="19050">
            <a:solidFill>
              <a:srgbClr val="3A2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0" y="3794760"/>
            <a:ext cx="192024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2A1A0A"/>
                </a:solidFill>
                <a:latin typeface="Calibri"/>
              </a:rPr>
              <a:t>Saisie mot secret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92640" y="3794760"/>
            <a:ext cx="1920240" cy="640080"/>
          </a:xfrm>
          <a:prstGeom prst="roundRect">
            <a:avLst>
              <a:gd name="adj" fmla="val 12000"/>
            </a:avLst>
          </a:prstGeom>
          <a:solidFill>
            <a:srgbClr val="FFF7DE"/>
          </a:solidFill>
          <a:ln w="19050">
            <a:solidFill>
              <a:srgbClr val="3A2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0" y="3794760"/>
            <a:ext cx="192024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2A1A0A"/>
                </a:solidFill>
                <a:latin typeface="Calibri"/>
              </a:rPr>
              <a:t>Choix difficulté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20240" y="4937760"/>
            <a:ext cx="1920240" cy="640080"/>
          </a:xfrm>
          <a:prstGeom prst="roundRect">
            <a:avLst>
              <a:gd name="adj" fmla="val 12000"/>
            </a:avLst>
          </a:prstGeom>
          <a:solidFill>
            <a:srgbClr val="B0D0E5"/>
          </a:solidFill>
          <a:ln w="19050">
            <a:solidFill>
              <a:srgbClr val="3A2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20240" y="4937760"/>
            <a:ext cx="192024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2A1A0A"/>
                </a:solidFill>
                <a:latin typeface="Calibri"/>
              </a:rPr>
              <a:t>Écran de jeu solo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0" y="4937760"/>
            <a:ext cx="1920240" cy="640080"/>
          </a:xfrm>
          <a:prstGeom prst="roundRect">
            <a:avLst>
              <a:gd name="adj" fmla="val 12000"/>
            </a:avLst>
          </a:prstGeom>
          <a:solidFill>
            <a:srgbClr val="B0D0E5"/>
          </a:solidFill>
          <a:ln w="19050">
            <a:solidFill>
              <a:srgbClr val="3A2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0" y="4937760"/>
            <a:ext cx="192024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2A1A0A"/>
                </a:solidFill>
                <a:latin typeface="Calibri"/>
              </a:rPr>
              <a:t>Écran de jeu 1v1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92640" y="4937760"/>
            <a:ext cx="1920240" cy="640080"/>
          </a:xfrm>
          <a:prstGeom prst="roundRect">
            <a:avLst>
              <a:gd name="adj" fmla="val 12000"/>
            </a:avLst>
          </a:prstGeom>
          <a:solidFill>
            <a:srgbClr val="FFF7DE"/>
          </a:solidFill>
          <a:ln w="19050">
            <a:solidFill>
              <a:srgbClr val="3A2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0" y="4937760"/>
            <a:ext cx="192024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2A1A0A"/>
                </a:solidFill>
                <a:latin typeface="Calibri"/>
              </a:rPr>
              <a:t>Top 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920240" y="5577840"/>
            <a:ext cx="1920240" cy="457200"/>
          </a:xfrm>
          <a:prstGeom prst="roundRect">
            <a:avLst>
              <a:gd name="adj" fmla="val 12000"/>
            </a:avLst>
          </a:prstGeom>
          <a:solidFill>
            <a:srgbClr val="EAD49B"/>
          </a:solidFill>
          <a:ln w="19050">
            <a:solidFill>
              <a:srgbClr val="3A2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20240" y="5577840"/>
            <a:ext cx="192024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2A1A0A"/>
                </a:solidFill>
                <a:latin typeface="Calibri"/>
              </a:rPr>
              <a:t>Sauvegarde score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35040" y="5577840"/>
            <a:ext cx="1920240" cy="457200"/>
          </a:xfrm>
          <a:prstGeom prst="roundRect">
            <a:avLst>
              <a:gd name="adj" fmla="val 12000"/>
            </a:avLst>
          </a:prstGeom>
          <a:solidFill>
            <a:srgbClr val="EAD49B"/>
          </a:solidFill>
          <a:ln w="19050">
            <a:solidFill>
              <a:srgbClr val="3A2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0" y="5577840"/>
            <a:ext cx="192024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2A1A0A"/>
                </a:solidFill>
                <a:latin typeface="Calibri"/>
              </a:rPr>
              <a:t>Fin de match / TIE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1508760" y="2057400"/>
            <a:ext cx="4023360" cy="548640"/>
          </a:xfrm>
          <a:prstGeom prst="line">
            <a:avLst/>
          </a:prstGeom>
          <a:ln w="19050">
            <a:solidFill>
              <a:srgbClr val="5D3A1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080760" y="2057400"/>
            <a:ext cx="0" cy="548640"/>
          </a:xfrm>
          <a:prstGeom prst="line">
            <a:avLst/>
          </a:prstGeom>
          <a:ln w="19050">
            <a:solidFill>
              <a:srgbClr val="5D3A1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629400" y="2057400"/>
            <a:ext cx="4023360" cy="548640"/>
          </a:xfrm>
          <a:prstGeom prst="line">
            <a:avLst/>
          </a:prstGeom>
          <a:ln w="19050">
            <a:solidFill>
              <a:srgbClr val="5D3A1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508760" y="3246120"/>
            <a:ext cx="0" cy="548640"/>
          </a:xfrm>
          <a:prstGeom prst="line">
            <a:avLst/>
          </a:prstGeom>
          <a:ln w="19050">
            <a:solidFill>
              <a:srgbClr val="5D3A1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508760" y="4434840"/>
            <a:ext cx="1371600" cy="502920"/>
          </a:xfrm>
          <a:prstGeom prst="line">
            <a:avLst/>
          </a:prstGeom>
          <a:ln w="19050">
            <a:solidFill>
              <a:srgbClr val="5D3A1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4251960" y="3246120"/>
            <a:ext cx="1828800" cy="548640"/>
          </a:xfrm>
          <a:prstGeom prst="line">
            <a:avLst/>
          </a:prstGeom>
          <a:ln w="19050">
            <a:solidFill>
              <a:srgbClr val="5D3A1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4251960" y="3794760"/>
            <a:ext cx="2743200" cy="640080"/>
          </a:xfrm>
          <a:prstGeom prst="line">
            <a:avLst/>
          </a:prstGeom>
          <a:ln w="19050">
            <a:solidFill>
              <a:srgbClr val="5D3A1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995160" y="4434840"/>
            <a:ext cx="0" cy="502920"/>
          </a:xfrm>
          <a:prstGeom prst="line">
            <a:avLst/>
          </a:prstGeom>
          <a:ln w="19050">
            <a:solidFill>
              <a:srgbClr val="5D3A1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652760" y="3246120"/>
            <a:ext cx="0" cy="548640"/>
          </a:xfrm>
          <a:prstGeom prst="line">
            <a:avLst/>
          </a:prstGeom>
          <a:ln w="19050">
            <a:solidFill>
              <a:srgbClr val="5D3A1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652760" y="4434840"/>
            <a:ext cx="0" cy="502920"/>
          </a:xfrm>
          <a:prstGeom prst="line">
            <a:avLst/>
          </a:prstGeom>
          <a:ln w="19050">
            <a:solidFill>
              <a:srgbClr val="5D3A1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880360" y="5577840"/>
            <a:ext cx="0" cy="0"/>
          </a:xfrm>
          <a:prstGeom prst="line">
            <a:avLst/>
          </a:prstGeom>
          <a:ln w="19050">
            <a:solidFill>
              <a:srgbClr val="5D3A1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995160" y="5577840"/>
            <a:ext cx="0" cy="0"/>
          </a:xfrm>
          <a:prstGeom prst="line">
            <a:avLst/>
          </a:prstGeom>
          <a:ln w="19050">
            <a:solidFill>
              <a:srgbClr val="5D3A1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02920" y="5870448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 i="1">
                <a:solidFill>
                  <a:srgbClr val="5D3A1A"/>
                </a:solidFill>
                <a:latin typeface="Calibri"/>
              </a:rPr>
              <a:t>Toutes les transitions reposent sur le remplacement du root de la Scene unique — la taille de la fenêtre est préservée.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6263640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5D3A1A"/>
                </a:solidFill>
                <a:latin typeface="Calibri"/>
              </a:rPr>
              <a:t>Pirate's Hangman   ·   4. Diagramme de navigation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263640"/>
            <a:ext cx="1371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100" b="0" i="1">
                <a:solidFill>
                  <a:srgbClr val="5D3A1A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E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EAD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18000"/>
          </a:xfrm>
          <a:prstGeom prst="rect">
            <a:avLst/>
          </a:prstGeom>
          <a:solidFill>
            <a:srgbClr val="8B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10000"/>
          </a:xfrm>
          <a:prstGeom prst="rect">
            <a:avLst/>
          </a:prstGeom>
          <a:solidFill>
            <a:srgbClr val="C895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080760"/>
            <a:ext cx="12191695" cy="18000"/>
          </a:xfrm>
          <a:prstGeom prst="rect">
            <a:avLst/>
          </a:prstGeom>
          <a:solidFill>
            <a:srgbClr val="8B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2880"/>
            <a:ext cx="128016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6400" b="1" i="0">
                <a:solidFill>
                  <a:srgbClr val="C89548"/>
                </a:solidFill>
                <a:latin typeface="Georgia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92608"/>
            <a:ext cx="100584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 i="0">
                <a:solidFill>
                  <a:srgbClr val="2A1A0A"/>
                </a:solidFill>
                <a:latin typeface="Georgia"/>
              </a:rPr>
              <a:t>Démonstration en direct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1554480"/>
            <a:ext cx="9966960" cy="4206240"/>
          </a:xfrm>
          <a:prstGeom prst="roundRect">
            <a:avLst>
              <a:gd name="adj" fmla="val 5000"/>
            </a:avLst>
          </a:prstGeom>
          <a:solidFill>
            <a:srgbClr val="FFF7DE"/>
          </a:solidFill>
          <a:ln w="25400">
            <a:solidFill>
              <a:srgbClr val="3A2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91640"/>
            <a:ext cx="9966960" cy="10972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6400" b="0" i="0">
                <a:solidFill>
                  <a:srgbClr val="C89548"/>
                </a:solidFill>
                <a:latin typeface="Calibri"/>
              </a:rPr>
              <a:t>⚓     ☠     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99669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2200" b="1" i="0">
                <a:solidFill>
                  <a:srgbClr val="2A1A0A"/>
                </a:solidFill>
                <a:latin typeface="Georgia"/>
              </a:rPr>
              <a:t>Le jeu va maintenant être lancé en direct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3611880"/>
            <a:ext cx="7772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8B6A2A"/>
                </a:solidFill>
                <a:latin typeface="Calibri"/>
              </a:rPr>
              <a:t>Scénarios démontrés 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3931920"/>
            <a:ext cx="7772400" cy="1828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89548"/>
                </a:solidFill>
                <a:latin typeface="Calibri"/>
              </a:rPr>
              <a:t>● </a:t>
            </a:r>
            <a:r>
              <a:rPr sz="1300">
                <a:solidFill>
                  <a:srgbClr val="2A1A0A"/>
                </a:solidFill>
                <a:latin typeface="Calibri"/>
              </a:rPr>
              <a:t>Partie solo en difficulté MEDIUM avec sauvegarde dans le Top 10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C89548"/>
                </a:solidFill>
                <a:latin typeface="Calibri"/>
              </a:rPr>
              <a:t>● </a:t>
            </a:r>
            <a:r>
              <a:rPr sz="1300">
                <a:solidFill>
                  <a:srgbClr val="2A1A0A"/>
                </a:solidFill>
                <a:latin typeface="Calibri"/>
              </a:rPr>
              <a:t>Duel 1v1 entre deux capitaines, alternance des rôles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C89548"/>
                </a:solidFill>
                <a:latin typeface="Calibri"/>
              </a:rPr>
              <a:t>● </a:t>
            </a:r>
            <a:r>
              <a:rPr sz="1300">
                <a:solidFill>
                  <a:srgbClr val="2A1A0A"/>
                </a:solidFill>
                <a:latin typeface="Calibri"/>
              </a:rPr>
              <a:t>Déclenchement et déroulement de la mort subite (même mot, deux essais)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C89548"/>
                </a:solidFill>
                <a:latin typeface="Calibri"/>
              </a:rPr>
              <a:t>● </a:t>
            </a:r>
            <a:r>
              <a:rPr sz="1300">
                <a:solidFill>
                  <a:srgbClr val="2A1A0A"/>
                </a:solidFill>
                <a:latin typeface="Calibri"/>
              </a:rPr>
              <a:t>Consultation du classement persistant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263640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5D3A1A"/>
                </a:solidFill>
                <a:latin typeface="Calibri"/>
              </a:rPr>
              <a:t>Pirate's Hangman   ·   5. Démonstration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263640"/>
            <a:ext cx="1371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100" b="0" i="1">
                <a:solidFill>
                  <a:srgbClr val="5D3A1A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E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EAD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18000"/>
          </a:xfrm>
          <a:prstGeom prst="rect">
            <a:avLst/>
          </a:prstGeom>
          <a:solidFill>
            <a:srgbClr val="8B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10000"/>
          </a:xfrm>
          <a:prstGeom prst="rect">
            <a:avLst/>
          </a:prstGeom>
          <a:solidFill>
            <a:srgbClr val="C895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080760"/>
            <a:ext cx="12191695" cy="18000"/>
          </a:xfrm>
          <a:prstGeom prst="rect">
            <a:avLst/>
          </a:prstGeom>
          <a:solidFill>
            <a:srgbClr val="8B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2880"/>
            <a:ext cx="128016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6400" b="1" i="0">
                <a:solidFill>
                  <a:srgbClr val="C89548"/>
                </a:solidFill>
                <a:latin typeface="Georgia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92608"/>
            <a:ext cx="100584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 i="0">
                <a:solidFill>
                  <a:srgbClr val="2A1A0A"/>
                </a:solidFill>
                <a:latin typeface="Georgia"/>
              </a:rPr>
              <a:t>Conclusion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3657600" cy="4206240"/>
          </a:xfrm>
          <a:prstGeom prst="roundRect">
            <a:avLst>
              <a:gd name="adj" fmla="val 5000"/>
            </a:avLst>
          </a:prstGeom>
          <a:solidFill>
            <a:srgbClr val="FFF7DE"/>
          </a:solidFill>
          <a:ln w="19050">
            <a:solidFill>
              <a:srgbClr val="3A2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3657600" cy="502920"/>
          </a:xfrm>
          <a:prstGeom prst="rect">
            <a:avLst/>
          </a:prstGeom>
          <a:solidFill>
            <a:srgbClr val="4A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63040"/>
            <a:ext cx="36576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ACQUIS TECHNIQUES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103120"/>
            <a:ext cx="3383280" cy="3474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C89548"/>
                </a:solidFill>
                <a:latin typeface="Calibri"/>
              </a:rPr>
              <a:t>● </a:t>
            </a:r>
            <a:r>
              <a:rPr sz="1200">
                <a:solidFill>
                  <a:srgbClr val="2A1A0A"/>
                </a:solidFill>
                <a:latin typeface="Calibri"/>
              </a:rPr>
              <a:t>Maîtrise du pattern MVC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C89548"/>
                </a:solidFill>
                <a:latin typeface="Calibri"/>
              </a:rPr>
              <a:t>● </a:t>
            </a:r>
            <a:r>
              <a:rPr sz="1200">
                <a:solidFill>
                  <a:srgbClr val="2A1A0A"/>
                </a:solidFill>
                <a:latin typeface="Calibri"/>
              </a:rPr>
              <a:t>Pattern DAO + Singleton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C89548"/>
                </a:solidFill>
                <a:latin typeface="Calibri"/>
              </a:rPr>
              <a:t>● </a:t>
            </a:r>
            <a:r>
              <a:rPr sz="1200">
                <a:solidFill>
                  <a:srgbClr val="2A1A0A"/>
                </a:solidFill>
                <a:latin typeface="Calibri"/>
              </a:rPr>
              <a:t>Programmation orientée objet (héritage, polymorphisme, abstraction)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C89548"/>
                </a:solidFill>
                <a:latin typeface="Calibri"/>
              </a:rPr>
              <a:t>● </a:t>
            </a:r>
            <a:r>
              <a:rPr sz="1200">
                <a:solidFill>
                  <a:srgbClr val="2A1A0A"/>
                </a:solidFill>
                <a:latin typeface="Calibri"/>
              </a:rPr>
              <a:t>Manipulation de JDBC avec PreparedStatement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C89548"/>
                </a:solidFill>
                <a:latin typeface="Calibri"/>
              </a:rPr>
              <a:t>● </a:t>
            </a:r>
            <a:r>
              <a:rPr sz="1200">
                <a:solidFill>
                  <a:srgbClr val="2A1A0A"/>
                </a:solidFill>
                <a:latin typeface="Calibri"/>
              </a:rPr>
              <a:t>JavaFX (Scene, Stage, CSS, événements)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C89548"/>
                </a:solidFill>
                <a:latin typeface="Calibri"/>
              </a:rPr>
              <a:t>● </a:t>
            </a:r>
            <a:r>
              <a:rPr sz="1200">
                <a:solidFill>
                  <a:srgbClr val="2A1A0A"/>
                </a:solidFill>
                <a:latin typeface="Calibri"/>
              </a:rPr>
              <a:t>Git / GitHub : branches, merge, push, conflits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463040"/>
            <a:ext cx="3657600" cy="4206240"/>
          </a:xfrm>
          <a:prstGeom prst="roundRect">
            <a:avLst>
              <a:gd name="adj" fmla="val 5000"/>
            </a:avLst>
          </a:prstGeom>
          <a:solidFill>
            <a:srgbClr val="FFF7DE"/>
          </a:solidFill>
          <a:ln w="19050">
            <a:solidFill>
              <a:srgbClr val="3A2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1463040"/>
            <a:ext cx="3657600" cy="502920"/>
          </a:xfrm>
          <a:prstGeom prst="rect">
            <a:avLst/>
          </a:prstGeom>
          <a:solidFill>
            <a:srgbClr val="A04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60" y="1463040"/>
            <a:ext cx="36576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DIFFICULTÉS RENCONTRÉES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103120"/>
            <a:ext cx="3383280" cy="3474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C89548"/>
                </a:solidFill>
                <a:latin typeface="Calibri"/>
              </a:rPr>
              <a:t>● </a:t>
            </a:r>
            <a:r>
              <a:rPr sz="1200">
                <a:solidFill>
                  <a:srgbClr val="2A1A0A"/>
                </a:solidFill>
                <a:latin typeface="Calibri"/>
              </a:rPr>
              <a:t>Configuration de JavaFX dans IntelliJ (module-path)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C89548"/>
                </a:solidFill>
                <a:latin typeface="Calibri"/>
              </a:rPr>
              <a:t>● </a:t>
            </a:r>
            <a:r>
              <a:rPr sz="1200">
                <a:solidFill>
                  <a:srgbClr val="2A1A0A"/>
                </a:solidFill>
                <a:latin typeface="Calibri"/>
              </a:rPr>
              <a:t>Gestion des conflits Git avec un partenaire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C89548"/>
                </a:solidFill>
                <a:latin typeface="Calibri"/>
              </a:rPr>
              <a:t>● </a:t>
            </a:r>
            <a:r>
              <a:rPr sz="1200">
                <a:solidFill>
                  <a:srgbClr val="2A1A0A"/>
                </a:solidFill>
                <a:latin typeface="Calibri"/>
              </a:rPr>
              <a:t>Calcul équitable du score pour deux modes différents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C89548"/>
                </a:solidFill>
                <a:latin typeface="Calibri"/>
              </a:rPr>
              <a:t>● </a:t>
            </a:r>
            <a:r>
              <a:rPr sz="1200">
                <a:solidFill>
                  <a:srgbClr val="2A1A0A"/>
                </a:solidFill>
                <a:latin typeface="Calibri"/>
              </a:rPr>
              <a:t>Cohérence du thème graphique sur tous les écrans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C89548"/>
                </a:solidFill>
                <a:latin typeface="Calibri"/>
              </a:rPr>
              <a:t>● </a:t>
            </a:r>
            <a:r>
              <a:rPr sz="1200">
                <a:solidFill>
                  <a:srgbClr val="2A1A0A"/>
                </a:solidFill>
                <a:latin typeface="Calibri"/>
              </a:rPr>
              <a:t>Garantir que les deux joueurs jouent en mort subite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463040"/>
            <a:ext cx="3657600" cy="4206240"/>
          </a:xfrm>
          <a:prstGeom prst="roundRect">
            <a:avLst>
              <a:gd name="adj" fmla="val 5000"/>
            </a:avLst>
          </a:prstGeom>
          <a:solidFill>
            <a:srgbClr val="FFF7DE"/>
          </a:solidFill>
          <a:ln w="19050">
            <a:solidFill>
              <a:srgbClr val="3A2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463040"/>
            <a:ext cx="3657600" cy="502920"/>
          </a:xfrm>
          <a:prstGeom prst="rect">
            <a:avLst/>
          </a:prstGeom>
          <a:solidFill>
            <a:srgbClr val="2C5F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1463040"/>
            <a:ext cx="36576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PERSPECTIVES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103120"/>
            <a:ext cx="3383280" cy="3474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C89548"/>
                </a:solidFill>
                <a:latin typeface="Calibri"/>
              </a:rPr>
              <a:t>● </a:t>
            </a:r>
            <a:r>
              <a:rPr sz="1200">
                <a:solidFill>
                  <a:srgbClr val="2A1A0A"/>
                </a:solidFill>
                <a:latin typeface="Calibri"/>
              </a:rPr>
              <a:t>Localisation complète FR / EN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C89548"/>
                </a:solidFill>
                <a:latin typeface="Calibri"/>
              </a:rPr>
              <a:t>● </a:t>
            </a:r>
            <a:r>
              <a:rPr sz="1200">
                <a:solidFill>
                  <a:srgbClr val="2A1A0A"/>
                </a:solidFill>
                <a:latin typeface="Calibri"/>
              </a:rPr>
              <a:t>Mode tournoi à plus de 2 joueurs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C89548"/>
                </a:solidFill>
                <a:latin typeface="Calibri"/>
              </a:rPr>
              <a:t>● </a:t>
            </a:r>
            <a:r>
              <a:rPr sz="1200">
                <a:solidFill>
                  <a:srgbClr val="2A1A0A"/>
                </a:solidFill>
                <a:latin typeface="Calibri"/>
              </a:rPr>
              <a:t>Difficulté adaptative (selon performance du joueur)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C89548"/>
                </a:solidFill>
                <a:latin typeface="Calibri"/>
              </a:rPr>
              <a:t>● </a:t>
            </a:r>
            <a:r>
              <a:rPr sz="1200">
                <a:solidFill>
                  <a:srgbClr val="2A1A0A"/>
                </a:solidFill>
                <a:latin typeface="Calibri"/>
              </a:rPr>
              <a:t>Catégories thématiques de mots (animaux, pays…)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C89548"/>
                </a:solidFill>
                <a:latin typeface="Calibri"/>
              </a:rPr>
              <a:t>● </a:t>
            </a:r>
            <a:r>
              <a:rPr sz="1200">
                <a:solidFill>
                  <a:srgbClr val="2A1A0A"/>
                </a:solidFill>
                <a:latin typeface="Calibri"/>
              </a:rPr>
              <a:t>Statistiques personnelles persistées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C89548"/>
                </a:solidFill>
                <a:latin typeface="Calibri"/>
              </a:rPr>
              <a:t>● </a:t>
            </a:r>
            <a:r>
              <a:rPr sz="1200">
                <a:solidFill>
                  <a:srgbClr val="2A1A0A"/>
                </a:solidFill>
                <a:latin typeface="Calibri"/>
              </a:rPr>
              <a:t>Déploiement en .jar exécutable signé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852160"/>
            <a:ext cx="112471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800" b="1" i="1">
                <a:solidFill>
                  <a:srgbClr val="2A1A0A"/>
                </a:solidFill>
                <a:latin typeface="Georgia"/>
              </a:rPr>
              <a:t>Merci de votre attention.   ·   Questions 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263640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5D3A1A"/>
                </a:solidFill>
                <a:latin typeface="Calibri"/>
              </a:rPr>
              <a:t>Pirate's Hangman   ·   6. Conclusion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263640"/>
            <a:ext cx="1371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100" b="0" i="1">
                <a:solidFill>
                  <a:srgbClr val="5D3A1A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